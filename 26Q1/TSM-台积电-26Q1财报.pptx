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平台营收占比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7EA4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0C3A0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HPC（高性能计算）</c:v>
                </c:pt>
                <c:pt idx="1">
                  <c:v>智能手机</c:v>
                </c:pt>
                <c:pt idx="2">
                  <c:v>IoT（物联网）</c:v>
                </c:pt>
                <c:pt idx="3">
                  <c:v>汽车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61</c:v>
                </c:pt>
                <c:pt idx="1">
                  <c:v>26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 %</c:v>
                </c:pt>
              </c:strCache>
            </c:strRef>
          </c:tx>
          <c:spPr>
            <a:solidFill>
              <a:srgbClr val="00C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3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3nm (N3)</c:v>
                  </c:pt>
                  <c:pt idx="1">
                    <c:v>5nm (N5/N4)</c:v>
                  </c:pt>
                  <c:pt idx="2">
                    <c:v>7nm及以下其他</c:v>
                  </c:pt>
                  <c:pt idx="3">
                    <c:v>成熟制程 (&gt;7nm)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36</c:v>
                </c:pt>
                <c:pt idx="2">
                  <c:v>0</c:v>
                </c:pt>
                <c:pt idx="3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年度营收（$B）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A7EA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C3A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C3A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29.4</c:v>
                </c:pt>
                <c:pt idx="1">
                  <c:v>30.4</c:v>
                </c:pt>
                <c:pt idx="2">
                  <c:v>34.1</c:v>
                </c:pt>
                <c:pt idx="3">
                  <c:v>35.7</c:v>
                </c:pt>
                <c:pt idx="4">
                  <c:v>47.4</c:v>
                </c:pt>
                <c:pt idx="5">
                  <c:v>56.8</c:v>
                </c:pt>
                <c:pt idx="6">
                  <c:v>75.9</c:v>
                </c:pt>
                <c:pt idx="7">
                  <c:v>70.4</c:v>
                </c:pt>
                <c:pt idx="8">
                  <c:v>88.3</c:v>
                </c:pt>
                <c:pt idx="9">
                  <c:v>122.3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3A0"/>
          </a:solidFill>
          <a:ln w="12700">
            <a:solidFill>
              <a:srgbClr val="00C3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377440"/>
            <a:ext cx="2286000" cy="2286000"/>
          </a:xfrm>
          <a:prstGeom prst="ellipse">
            <a:avLst/>
          </a:prstGeom>
          <a:solidFill>
            <a:srgbClr val="00C3A0">
              <a:alpha val="15000"/>
            </a:srgbClr>
          </a:solidFill>
          <a:ln w="12700">
            <a:solidFill>
              <a:srgbClr val="00C3A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【台积电 TSMC】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2026年第一季度财报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业绩全面超预期 · 毛利率历史性突破66% · AI超级周期持续兑现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029200" cy="27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$35.9B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  +40.6% YoY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$18.1B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  +58.3% YoY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毛利率  历史新高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财报发布日期：2026年4月16日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核心财务数据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总收入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$35.9B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+40.6%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960120"/>
            <a:ext cx="2011680" cy="73152"/>
          </a:xfrm>
          <a:prstGeom prst="rect">
            <a:avLst/>
          </a:prstGeom>
          <a:solidFill>
            <a:srgbClr val="00C3A0"/>
          </a:solidFill>
          <a:ln w="12700">
            <a:solidFill>
              <a:srgbClr val="00C3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$18.1B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51176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+58.3%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51176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+13.2%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960120"/>
            <a:ext cx="20116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摊薄EPS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64024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+58.3%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4024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67144" y="960120"/>
            <a:ext cx="201168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67144" y="96012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毛利率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58584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76872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历史新高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76872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+3.9ppt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8328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营业利益率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58.1%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441448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51176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32888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51176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突破50%历史性节点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54296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64024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2026全年资本开支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45736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$520-560亿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867144" y="3291840"/>
            <a:ext cx="2011680" cy="146304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76872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Q2营收指引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58584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$390-402亿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主营业务收入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按平台拆分 2026 Q1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3840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389120" y="960120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389120" y="960120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HPC（高性能计算）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1005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35240" y="1051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+20%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AI加速器、数据中心GPU/CPU，首次突破60%  约 $21.9B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1947672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947672"/>
            <a:ext cx="64008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智能手机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19933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635240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-11%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2450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季节性回落，苹果A19系列3nm在产  约 $9.3B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89120" y="2935224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89120" y="2935224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008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IoT（物联网）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2980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635240" y="3026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+12%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0" y="3438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物联网终端需求持续恢复  约 $2.2B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89120" y="3922776"/>
            <a:ext cx="45262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3922776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汽车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0" y="39684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635240" y="4014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环比 -7%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0" y="44256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客户仍处于去库存阶段  约 $1.4B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先进制程收入结构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0" y="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Node 2026 Q1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60120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60120"/>
            <a:ext cx="64008" cy="868680"/>
          </a:xfrm>
          <a:prstGeom prst="rect">
            <a:avLst/>
          </a:prstGeom>
          <a:solidFill>
            <a:srgbClr val="00C3A0"/>
          </a:solidFill>
          <a:ln w="12700">
            <a:solidFill>
              <a:srgbClr val="00C3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42432" y="1024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3nm（N3系列）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0" y="10058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42432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A19 · Nvidia Blackwell Ultra · 高通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947672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947672"/>
            <a:ext cx="64008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5nm（N5/N4系列）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01000" y="19933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42432" y="2478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H100/H200 · AMD MI300 · AI ASIC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2935224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935224"/>
            <a:ext cx="64008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先进制程合计（≤7nm）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01000" y="29809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42432" y="3465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创历史新高，持续提升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77840" y="3922776"/>
            <a:ext cx="32918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922776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2432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N2（2nm）量产进展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01000" y="39684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1月量产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742432" y="4453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Fab20/22已量产，良率65-80%，Q4起贡献营收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历史年度营收数据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单位：Billion USD  2016–2025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097280"/>
            <a:ext cx="1645920" cy="10515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60920" y="1161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609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$122.3B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6092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+38.5%  AI驱动历史新高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269480" y="2331720"/>
            <a:ext cx="1645920" cy="10515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$88.3B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6092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+25.4%  AI基础设施需求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269480" y="3566160"/>
            <a:ext cx="1645920" cy="10515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60920" y="3630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26Q1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6092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$35.9B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60920" y="4251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+40.6%  连续四季创历史高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341"/>
          </a:solidFill>
          <a:ln w="12700">
            <a:solidFill>
              <a:srgbClr val="0D2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管理层展望 &amp; 风险提示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4114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核心亮点 &amp; 前瞻指引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371600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2026营收指引 $390-402亿，环比+10%，毛利率65.5-67.5%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AI加速器2024-2029年CAGR预期从45%上调至54-56%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2026全年资本开支$520-560亿，同比+27-40%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N2（2nm）已量产，早期良率65-80%，显著优于三星同期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CoWoS封装产能年底将扩至月产127,000片（vs 2025初约45K）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先进封装2026年预计贡献超10%营收（约$50亿+）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CEO魏哲家：AI需求极其强劲，但"我也很紧张"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605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主要风险提示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客户集中度：前10大AI设计公司贡献HPC营收80%+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N2爬坡稀释：预计稀释2026全年毛利率2-3ppt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Arizona成本：海外工厂毛利率低于台湾约10ppt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资本开支回报：$560亿高度依赖AI需求预测兑现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地缘政治：80%+产能集中台湾，台海风险为尾部风险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估值偏高：前瞻P/E约21.9x，已隐含乐观情景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中国市场萎缩：先进制程受出口管制持续收紧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台积电 TSM 2026Q1 财报</dc:title>
  <dc:subject>PptxGenJS Presentation</dc:subject>
  <dc:creator>AI Research</dc:creator>
  <cp:lastModifiedBy>AI Research</cp:lastModifiedBy>
  <cp:revision>1</cp:revision>
  <dcterms:created xsi:type="dcterms:W3CDTF">2026-04-29T03:22:47Z</dcterms:created>
  <dcterms:modified xsi:type="dcterms:W3CDTF">2026-04-29T03:22:47Z</dcterms:modified>
</cp:coreProperties>
</file>